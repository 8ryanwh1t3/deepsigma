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OPMG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18745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Deploys CERPA for Army Protection Program Assessment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1371600" cy="457200"/>
          </a:xfrm>
          <a:prstGeom prst="rect">
            <a:avLst/>
          </a:prstGeom>
          <a:solidFill>
            <a:srgbClr val="00B4D8">
              <a:alpha val="80000"/>
            </a:srgbClr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926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CLAIM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304288" y="2926080"/>
            <a:ext cx="1371600" cy="457200"/>
          </a:xfrm>
          <a:prstGeom prst="rect">
            <a:avLst/>
          </a:prstGeom>
          <a:solidFill>
            <a:srgbClr val="F59E0B">
              <a:alpha val="80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04288" y="2926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77056" y="2926080"/>
            <a:ext cx="1371600" cy="457200"/>
          </a:xfrm>
          <a:prstGeom prst="rect">
            <a:avLst/>
          </a:prstGeom>
          <a:solidFill>
            <a:srgbClr val="8B5CF6">
              <a:alpha val="80000"/>
            </a:srgbClr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77056" y="2926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49824" y="2926080"/>
            <a:ext cx="1371600" cy="457200"/>
          </a:xfrm>
          <a:prstGeom prst="rect">
            <a:avLst/>
          </a:prstGeom>
          <a:solidFill>
            <a:srgbClr val="EF4444">
              <a:alpha val="80000"/>
            </a:srgbClr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49824" y="2926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022592" y="2926080"/>
            <a:ext cx="1371600" cy="457200"/>
          </a:xfrm>
          <a:prstGeom prst="rect">
            <a:avLst/>
          </a:prstGeom>
          <a:solidFill>
            <a:srgbClr val="10B981">
              <a:alpha val="80000"/>
            </a:srgbClr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22592" y="2926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67128" y="2944368"/>
            <a:ext cx="137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&gt;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739896" y="2944368"/>
            <a:ext cx="137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&gt;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12664" y="2944368"/>
            <a:ext cx="137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&gt;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85432" y="2944368"/>
            <a:ext cx="137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&gt;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4389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Sigma  |  Decision Governance  |  AR 525-2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74320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256032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731520" y="8686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assessment produces a recurring burden that AR 525-2 makes non-optional.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731520" y="1417320"/>
            <a:ext cx="7680960" cy="502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1417320"/>
            <a:ext cx="54864" cy="502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141732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findings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31520" y="2057400"/>
            <a:ext cx="7680960" cy="502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2057400"/>
            <a:ext cx="54864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8"/>
          <p:cNvSpPr/>
          <p:nvPr/>
        </p:nvSpPr>
        <p:spPr>
          <a:xfrm>
            <a:off x="1005840" y="205740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review cycles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31520" y="2697480"/>
            <a:ext cx="7680960" cy="502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31520" y="2697480"/>
            <a:ext cx="54864" cy="502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Text 11"/>
          <p:cNvSpPr/>
          <p:nvPr/>
        </p:nvSpPr>
        <p:spPr>
          <a:xfrm>
            <a:off x="1005840" y="269748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closure evidence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31520" y="3337560"/>
            <a:ext cx="7680960" cy="502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31520" y="3337560"/>
            <a:ext cx="54864" cy="5029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Text 14"/>
          <p:cNvSpPr/>
          <p:nvPr/>
        </p:nvSpPr>
        <p:spPr>
          <a:xfrm>
            <a:off x="1005840" y="333756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deficiencies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31520" y="3977640"/>
            <a:ext cx="7680960" cy="502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31520" y="3977640"/>
            <a:ext cx="54864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7"/>
          <p:cNvSpPr/>
          <p:nvPr/>
        </p:nvSpPr>
        <p:spPr>
          <a:xfrm>
            <a:off x="1005840" y="397764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Labor-heavy board prep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74320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256032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CERPA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731520" y="80467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assessment finding becomes a governed closure loop.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731520" y="1280160"/>
            <a:ext cx="7680960" cy="594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1280160"/>
            <a:ext cx="54864" cy="5943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130759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463040" y="133502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463040" y="1581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asserted, deficient, required, or at risk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132320" y="1417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DLR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31520" y="1993392"/>
            <a:ext cx="7680960" cy="594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31520" y="1993392"/>
            <a:ext cx="54864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1005840" y="202082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1463040" y="204825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463040" y="229514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observed fact, inspection result, or incident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132320" y="21305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DLR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31520" y="2706624"/>
            <a:ext cx="7680960" cy="594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31520" y="2706624"/>
            <a:ext cx="54864" cy="5943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Text 17"/>
          <p:cNvSpPr/>
          <p:nvPr/>
        </p:nvSpPr>
        <p:spPr>
          <a:xfrm>
            <a:off x="1005840" y="273405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1463040" y="27614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463040" y="300837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Adjudication, ownership, impact, and priority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7132320" y="2843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31520" y="3419856"/>
            <a:ext cx="7680960" cy="594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31520" y="3419856"/>
            <a:ext cx="54864" cy="5943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6" name="Text 23"/>
          <p:cNvSpPr/>
          <p:nvPr/>
        </p:nvSpPr>
        <p:spPr>
          <a:xfrm>
            <a:off x="1005840" y="344728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endParaRPr lang="en-US" sz="2400" dirty="0"/>
          </a:p>
        </p:txBody>
      </p:sp>
      <p:sp>
        <p:nvSpPr>
          <p:cNvPr id="27" name="Text 24"/>
          <p:cNvSpPr/>
          <p:nvPr/>
        </p:nvSpPr>
        <p:spPr>
          <a:xfrm>
            <a:off x="1463040" y="34747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463040" y="372160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 action, mitigation, or control update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7132320" y="35570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731520" y="4133088"/>
            <a:ext cx="7680960" cy="594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731520" y="4133088"/>
            <a:ext cx="54864" cy="5943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2" name="Text 29"/>
          <p:cNvSpPr/>
          <p:nvPr/>
        </p:nvSpPr>
        <p:spPr>
          <a:xfrm>
            <a:off x="1005840" y="416052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2400" dirty="0"/>
          </a:p>
        </p:txBody>
      </p:sp>
      <p:sp>
        <p:nvSpPr>
          <p:cNvPr id="33" name="Text 30"/>
          <p:cNvSpPr/>
          <p:nvPr/>
        </p:nvSpPr>
        <p:spPr>
          <a:xfrm>
            <a:off x="1463040" y="41879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1463040" y="44348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Implementation, evidence, validation, and reuse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7132320" y="42702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74320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256032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 525-2 ALIGNMENT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731520" y="80467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525-2 implies a recurring assess/evaluate/govern cycle. CERPA makes it machine-readable.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731520" y="1280160"/>
            <a:ext cx="374904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1280160"/>
            <a:ext cx="3749040" cy="36576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280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525-2 Requires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1783080"/>
            <a:ext cx="33832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assess / evaluate / govern cycle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assessment functions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Deficiency tracking across windows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closure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trend reporting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Board-ready status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663440" y="1280160"/>
            <a:ext cx="374904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1280160"/>
            <a:ext cx="374904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9"/>
          <p:cNvSpPr/>
          <p:nvPr/>
        </p:nvSpPr>
        <p:spPr>
          <a:xfrm>
            <a:off x="4663440" y="1280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CERPA Delivers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46320" y="1783080"/>
            <a:ext cx="33832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C-E-R-P-A closure loop per finding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workflow (not admin burden)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Cross-cycle memory via Memory Graph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attached to every closure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trend data (not annual rebuild)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Readiness Quotient scoring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74320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256032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FINDING, ONE LOOP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731520" y="80467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security deficiency walks through the full CERPA cycle.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731520" y="1143000"/>
            <a:ext cx="7680960" cy="640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1143000"/>
            <a:ext cx="54864" cy="6400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11887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280160" y="121615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280160" y="14356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 coverage gap found at Building 4 perimeter during quarterly APP assessment.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217920" y="14630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DLR-2026-0412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731520" y="1892808"/>
            <a:ext cx="7680960" cy="640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31520" y="1892808"/>
            <a:ext cx="54864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193852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280160" y="19659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280160" y="218541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 photographs dead zone. Finding logged. OOL = 0 days (owner assigned on-site).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217920" y="19659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OOL: 0 days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217920" y="22128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DLR updated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731520" y="2642616"/>
            <a:ext cx="7680960" cy="640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31520" y="2642616"/>
            <a:ext cx="54864" cy="6400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Text 18"/>
          <p:cNvSpPr/>
          <p:nvPr/>
        </p:nvSpPr>
        <p:spPr>
          <a:xfrm>
            <a:off x="914400" y="268833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1280160" y="271576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280160" y="293522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reviews finding. BRQ = 0.8 (owner, evidence, patch proposed, risk scored, due date set).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217920" y="27157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BRQ: 0.80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217920" y="29626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DS-2026-0088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731520" y="3392424"/>
            <a:ext cx="7680960" cy="640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731520" y="3392424"/>
            <a:ext cx="54864" cy="640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8" name="Text 25"/>
          <p:cNvSpPr/>
          <p:nvPr/>
        </p:nvSpPr>
        <p:spPr>
          <a:xfrm>
            <a:off x="914400" y="343814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1280160" y="346557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280160" y="36850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repositioned + new unit installed to eliminate dead zone. Root-cause fix, not workaround.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6217920" y="346557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PPI: 1.0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217920" y="371246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RS-2026-0055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731520" y="4142232"/>
            <a:ext cx="7680960" cy="640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731520" y="4142232"/>
            <a:ext cx="54864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5" name="Text 32"/>
          <p:cNvSpPr/>
          <p:nvPr/>
        </p:nvSpPr>
        <p:spPr>
          <a:xfrm>
            <a:off x="914400" y="4187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2000" dirty="0"/>
          </a:p>
        </p:txBody>
      </p:sp>
      <p:sp>
        <p:nvSpPr>
          <p:cNvPr id="36" name="Text 33"/>
          <p:cNvSpPr/>
          <p:nvPr/>
        </p:nvSpPr>
        <p:spPr>
          <a:xfrm>
            <a:off x="1280160" y="421538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280160" y="44348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complete. Photo evidence + commissioning report attached. Verified by PMO walkdown.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6217920" y="42153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EDI: 3.0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6217920" y="44622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MG updated</a:t>
            </a:r>
            <a:endParaRPr lang="en-US" sz="750" dirty="0"/>
          </a:p>
        </p:txBody>
      </p:sp>
      <p:sp>
        <p:nvSpPr>
          <p:cNvPr id="40" name="Shape 37"/>
          <p:cNvSpPr/>
          <p:nvPr/>
        </p:nvSpPr>
        <p:spPr>
          <a:xfrm>
            <a:off x="731520" y="4892040"/>
            <a:ext cx="7680960" cy="201168"/>
          </a:xfrm>
          <a:prstGeom prst="rect">
            <a:avLst/>
          </a:prstGeom>
          <a:solidFill>
            <a:srgbClr val="10B981">
              <a:alpha val="75000"/>
            </a:srgbClr>
          </a:solidFill>
          <a:ln/>
        </p:spPr>
      </p:sp>
      <p:sp>
        <p:nvSpPr>
          <p:cNvPr id="41" name="Text 38"/>
          <p:cNvSpPr/>
          <p:nvPr/>
        </p:nvSpPr>
        <p:spPr>
          <a:xfrm>
            <a:off x="731520" y="4892040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Finding closed in 11 days  |  CG: 11  |  PAR: pending next cycle  |  CIS contribution: positive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74320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256032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ROI MODEL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731520" y="868680"/>
            <a:ext cx="7680960" cy="502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8686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ROI  =  (hours saved + rework avoided + repeat findings reduced + board prep compressed) / deployment cost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31520" y="15544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Standard:  </a:t>
            </a:r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3:1 to 10:1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Multi-command:  </a:t>
            </a:r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10:1+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" y="2240280"/>
            <a:ext cx="7680960" cy="53035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31520" y="2240280"/>
            <a:ext cx="54864" cy="5303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7"/>
          <p:cNvSpPr/>
          <p:nvPr/>
        </p:nvSpPr>
        <p:spPr>
          <a:xfrm>
            <a:off x="1051560" y="2331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admin labor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029200" y="2331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20-40% reduction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31520" y="2898648"/>
            <a:ext cx="7680960" cy="53035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31520" y="2898648"/>
            <a:ext cx="54864" cy="5303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1"/>
          <p:cNvSpPr/>
          <p:nvPr/>
        </p:nvSpPr>
        <p:spPr>
          <a:xfrm>
            <a:off x="1051560" y="29900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/ status-chasing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029200" y="29900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25-50% reduction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731520" y="3557016"/>
            <a:ext cx="7680960" cy="53035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31520" y="3557016"/>
            <a:ext cx="54864" cy="5303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5"/>
          <p:cNvSpPr/>
          <p:nvPr/>
        </p:nvSpPr>
        <p:spPr>
          <a:xfrm>
            <a:off x="1051560" y="364845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deficiencies (12 mo)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029200" y="364845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15-35% reduction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731520" y="4215384"/>
            <a:ext cx="7680960" cy="53035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31520" y="4215384"/>
            <a:ext cx="54864" cy="5303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2" name="Text 19"/>
          <p:cNvSpPr/>
          <p:nvPr/>
        </p:nvSpPr>
        <p:spPr>
          <a:xfrm>
            <a:off x="1051560" y="430682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report production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029200" y="430682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30-60% reduction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74320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256032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LEAD-6 KPIs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731520" y="80467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Resistance  |  Durability  |  Recurrence  |  Proof Lag  |  Board Quality  |  Integrity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731520" y="1234440"/>
            <a:ext cx="246888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1234440"/>
            <a:ext cx="54864" cy="14630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1371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CG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914400" y="18745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 Gravity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14400" y="21945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383280" y="1234440"/>
            <a:ext cx="246888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83280" y="1234440"/>
            <a:ext cx="54864" cy="1463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0"/>
          <p:cNvSpPr/>
          <p:nvPr/>
        </p:nvSpPr>
        <p:spPr>
          <a:xfrm>
            <a:off x="3566160" y="1371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3566160" y="18745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Adhesion Rate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566160" y="21945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Durability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035040" y="1234440"/>
            <a:ext cx="246888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035040" y="1234440"/>
            <a:ext cx="54864" cy="1463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5"/>
          <p:cNvSpPr/>
          <p:nvPr/>
        </p:nvSpPr>
        <p:spPr>
          <a:xfrm>
            <a:off x="6217920" y="1371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6217920" y="18745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Deficiency Echo Score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217920" y="21945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Recurrence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31520" y="2926080"/>
            <a:ext cx="246888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31520" y="2926080"/>
            <a:ext cx="54864" cy="1463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3" name="Text 20"/>
          <p:cNvSpPr/>
          <p:nvPr/>
        </p:nvSpPr>
        <p:spPr>
          <a:xfrm>
            <a:off x="914400" y="30632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DEG</a:t>
            </a:r>
            <a:endParaRPr lang="en-US" sz="2800" dirty="0"/>
          </a:p>
        </p:txBody>
      </p:sp>
      <p:sp>
        <p:nvSpPr>
          <p:cNvPr id="24" name="Text 21"/>
          <p:cNvSpPr/>
          <p:nvPr/>
        </p:nvSpPr>
        <p:spPr>
          <a:xfrm>
            <a:off x="914400" y="35661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Decision-to-Evidence Gap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914400" y="38862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Lag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383280" y="2926080"/>
            <a:ext cx="246888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383280" y="2926080"/>
            <a:ext cx="54864" cy="14630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8" name="Text 25"/>
          <p:cNvSpPr/>
          <p:nvPr/>
        </p:nvSpPr>
        <p:spPr>
          <a:xfrm>
            <a:off x="3566160" y="30632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BRQ</a:t>
            </a:r>
            <a:endParaRPr lang="en-US" sz="2800" dirty="0"/>
          </a:p>
        </p:txBody>
      </p:sp>
      <p:sp>
        <p:nvSpPr>
          <p:cNvPr id="29" name="Text 26"/>
          <p:cNvSpPr/>
          <p:nvPr/>
        </p:nvSpPr>
        <p:spPr>
          <a:xfrm>
            <a:off x="3566160" y="35661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Readiness Quotient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3566160" y="38862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Quality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035040" y="2926080"/>
            <a:ext cx="246888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6035040" y="2926080"/>
            <a:ext cx="54864" cy="1463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3" name="Text 30"/>
          <p:cNvSpPr/>
          <p:nvPr/>
        </p:nvSpPr>
        <p:spPr>
          <a:xfrm>
            <a:off x="6217920" y="30632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CIS</a:t>
            </a:r>
            <a:endParaRPr lang="en-US" sz="2800" dirty="0"/>
          </a:p>
        </p:txBody>
      </p:sp>
      <p:sp>
        <p:nvSpPr>
          <p:cNvPr id="34" name="Text 31"/>
          <p:cNvSpPr/>
          <p:nvPr/>
        </p:nvSpPr>
        <p:spPr>
          <a:xfrm>
            <a:off x="6217920" y="35661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 Integrity Score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6217920" y="38862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74320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256032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KPI-TO-ROI BRIDGE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731520" y="80467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ROI claim maps to specific validating KPIs.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731520" y="1188720"/>
            <a:ext cx="7680960" cy="74980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1188720"/>
            <a:ext cx="54864" cy="7498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5"/>
          <p:cNvSpPr/>
          <p:nvPr/>
        </p:nvSpPr>
        <p:spPr>
          <a:xfrm>
            <a:off x="1051560" y="12618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labor reduction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389120" y="12252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20-40%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51560" y="15910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AFL   RCR   IAB   GSNR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31520" y="2103120"/>
            <a:ext cx="7680960" cy="74980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31520" y="2103120"/>
            <a:ext cx="54864" cy="7498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0"/>
          <p:cNvSpPr/>
          <p:nvPr/>
        </p:nvSpPr>
        <p:spPr>
          <a:xfrm>
            <a:off x="1051560" y="21762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reduction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389120" y="21396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25-50%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51560" y="25054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CG   OOL   DEG   BRQ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31520" y="3017520"/>
            <a:ext cx="7680960" cy="74980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31520" y="3017520"/>
            <a:ext cx="54864" cy="7498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5"/>
          <p:cNvSpPr/>
          <p:nvPr/>
        </p:nvSpPr>
        <p:spPr>
          <a:xfrm>
            <a:off x="1051560" y="30906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deficiency reduction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389120" y="30540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15-35%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051560" y="3419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   RDEV   PAR   FCR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31520" y="3931920"/>
            <a:ext cx="7680960" cy="74980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31520" y="3931920"/>
            <a:ext cx="54864" cy="7498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3" name="Text 20"/>
          <p:cNvSpPr/>
          <p:nvPr/>
        </p:nvSpPr>
        <p:spPr>
          <a:xfrm>
            <a:off x="1051560" y="40050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report acceleration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389120" y="39684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30-60%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051560" y="43342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CMR   CRV   CTD   CIS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74320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256032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COMMAND "SO WHAT"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731520" y="1097280"/>
            <a:ext cx="3749040" cy="2743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1097280"/>
            <a:ext cx="3749040" cy="365760"/>
          </a:xfrm>
          <a:prstGeom prst="rect">
            <a:avLst/>
          </a:prstGeom>
          <a:solidFill>
            <a:srgbClr val="EF4444">
              <a:alpha val="7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097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asking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51560" y="1691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we inspect it?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51560" y="2240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we brief it?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51560" y="2788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we close it?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663440" y="1097280"/>
            <a:ext cx="3749040" cy="2743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1097280"/>
            <a:ext cx="3749040" cy="365760"/>
          </a:xfrm>
          <a:prstGeom prst="rect">
            <a:avLst/>
          </a:prstGeom>
          <a:solidFill>
            <a:srgbClr val="10B981">
              <a:alpha val="7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4663440" y="1097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ask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983480" y="1691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drifted and why?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983480" y="2240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patch was approved?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983480" y="2788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evidence proves closure?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fix hold in the next cycle?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74320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256032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CLOSURE INTEGRITY SCORE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731520" y="80467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number for how trustworthy closure really is.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CIS  =  0.25 PAR  +  0.20 EDI_norm  +  0.25 (1 - FCR)  +  0.15 (1 - DEG_norm)  +  0.15 PPI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31520" y="1783080"/>
            <a:ext cx="7680960" cy="420624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31520" y="1783080"/>
            <a:ext cx="54864" cy="42062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7"/>
          <p:cNvSpPr/>
          <p:nvPr/>
        </p:nvSpPr>
        <p:spPr>
          <a:xfrm>
            <a:off x="1005840" y="183794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286000" y="1837944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Adhesion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286000" y="2002536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fix hold?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858000" y="18379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31520" y="2313432"/>
            <a:ext cx="7680960" cy="420624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31520" y="2313432"/>
            <a:ext cx="54864" cy="42062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6" name="Text 13"/>
          <p:cNvSpPr/>
          <p:nvPr/>
        </p:nvSpPr>
        <p:spPr>
          <a:xfrm>
            <a:off x="1005840" y="236829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EDI_norm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286000" y="2368296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Density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286000" y="2532888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proof?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858000" y="23682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31520" y="2843784"/>
            <a:ext cx="7680960" cy="420624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31520" y="2843784"/>
            <a:ext cx="54864" cy="42062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19"/>
          <p:cNvSpPr/>
          <p:nvPr/>
        </p:nvSpPr>
        <p:spPr>
          <a:xfrm>
            <a:off x="1005840" y="28986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1 - FCR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2286000" y="2898648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 Durability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2286000" y="3063240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it stay closed?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858000" y="28986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731520" y="3374136"/>
            <a:ext cx="7680960" cy="420624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731520" y="3374136"/>
            <a:ext cx="54864" cy="42062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8" name="Text 25"/>
          <p:cNvSpPr/>
          <p:nvPr/>
        </p:nvSpPr>
        <p:spPr>
          <a:xfrm>
            <a:off x="1005840" y="34290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1 - DEG_norm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2286000" y="3429000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Speed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2286000" y="3593592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fast did proof follow?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6858000" y="3429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731520" y="3904488"/>
            <a:ext cx="7680960" cy="420624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731520" y="3904488"/>
            <a:ext cx="54864" cy="42062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4" name="Text 31"/>
          <p:cNvSpPr/>
          <p:nvPr/>
        </p:nvSpPr>
        <p:spPr>
          <a:xfrm>
            <a:off x="1005840" y="39593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PPI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2286000" y="3959352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Precision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2286000" y="4123944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or symptom?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6858000" y="39593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731520" y="45262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&gt; 0.75  =  governance loop is real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74320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256032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RECOMMENDED PILOT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731520" y="80467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 lane  |  One command  |  One semiannual window  |  12 weeks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731520" y="1143000"/>
            <a:ext cx="7680960" cy="594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1143000"/>
            <a:ext cx="54864" cy="59436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11887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1-2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05840" y="13990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743200" y="1280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CG  AFL  OOL  IAB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31520" y="1856232"/>
            <a:ext cx="7680960" cy="594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31520" y="1856232"/>
            <a:ext cx="54864" cy="5943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0"/>
          <p:cNvSpPr/>
          <p:nvPr/>
        </p:nvSpPr>
        <p:spPr>
          <a:xfrm>
            <a:off x="1005840" y="1901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3-4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05840" y="21122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2743200" y="19933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RCR  BRQ  GSNR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31520" y="2569464"/>
            <a:ext cx="7680960" cy="594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31520" y="2569464"/>
            <a:ext cx="54864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5"/>
          <p:cNvSpPr/>
          <p:nvPr/>
        </p:nvSpPr>
        <p:spPr>
          <a:xfrm>
            <a:off x="1005840" y="26151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5-8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005840" y="282549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Close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2743200" y="270662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  EDI  DEG  PPI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731520" y="3282696"/>
            <a:ext cx="7680960" cy="594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31520" y="3282696"/>
            <a:ext cx="54864" cy="5943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0"/>
          <p:cNvSpPr/>
          <p:nvPr/>
        </p:nvSpPr>
        <p:spPr>
          <a:xfrm>
            <a:off x="1005840" y="33284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9-12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005840" y="35387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Durability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2743200" y="341985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FCR  DES  CRV  CTD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731520" y="3995928"/>
            <a:ext cx="7680960" cy="594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731520" y="3995928"/>
            <a:ext cx="54864" cy="5943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8" name="Text 25"/>
          <p:cNvSpPr/>
          <p:nvPr/>
        </p:nvSpPr>
        <p:spPr>
          <a:xfrm>
            <a:off x="1005840" y="40416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12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05840" y="42519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Brief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2743200" y="41330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CIS  RDEV  CMR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731520" y="4754880"/>
            <a:ext cx="7680960" cy="274320"/>
          </a:xfrm>
          <a:prstGeom prst="rect">
            <a:avLst/>
          </a:prstGeom>
          <a:solidFill>
            <a:srgbClr val="10B981">
              <a:alpha val="75000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73152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Pass: CIS &gt; 0.60  |  3 of 4 targets moving  |  Board prep down 25%+  |  1 recurring deficiency prevented by Memory Graph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74320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256032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MEASUREMENT INSTRUMENTATION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731520" y="80467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promised ROI into a measurable collection plan.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731520" y="1097280"/>
            <a:ext cx="1828800" cy="36576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097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Lead-6 KPI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560320" y="1097280"/>
            <a:ext cx="1920240" cy="36576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9" name="Text 6"/>
          <p:cNvSpPr/>
          <p:nvPr/>
        </p:nvSpPr>
        <p:spPr>
          <a:xfrm>
            <a:off x="2560320" y="1097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Source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480560" y="1097280"/>
            <a:ext cx="1554480" cy="36576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1" name="Text 8"/>
          <p:cNvSpPr/>
          <p:nvPr/>
        </p:nvSpPr>
        <p:spPr>
          <a:xfrm>
            <a:off x="4480560" y="1097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035040" y="1097280"/>
            <a:ext cx="1463040" cy="36576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3" name="Text 10"/>
          <p:cNvSpPr/>
          <p:nvPr/>
        </p:nvSpPr>
        <p:spPr>
          <a:xfrm>
            <a:off x="6035040" y="10972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7498080" y="1097280"/>
            <a:ext cx="914400" cy="36576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5" name="Text 12"/>
          <p:cNvSpPr/>
          <p:nvPr/>
        </p:nvSpPr>
        <p:spPr>
          <a:xfrm>
            <a:off x="7498080" y="1097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731520" y="1463040"/>
            <a:ext cx="182880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4"/>
          <p:cNvSpPr/>
          <p:nvPr/>
        </p:nvSpPr>
        <p:spPr>
          <a:xfrm>
            <a:off x="804672" y="146304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CG  Closure Gravity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2560320" y="1463040"/>
            <a:ext cx="192024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Text 16"/>
          <p:cNvSpPr/>
          <p:nvPr/>
        </p:nvSpPr>
        <p:spPr>
          <a:xfrm>
            <a:off x="2633472" y="146304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tracker: days open, handoffs, reopenings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480560" y="1463040"/>
            <a:ext cx="155448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Text 18"/>
          <p:cNvSpPr/>
          <p:nvPr/>
        </p:nvSpPr>
        <p:spPr>
          <a:xfrm>
            <a:off x="4553712" y="1463040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Lead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6035040" y="1463040"/>
            <a:ext cx="146304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Text 20"/>
          <p:cNvSpPr/>
          <p:nvPr/>
        </p:nvSpPr>
        <p:spPr>
          <a:xfrm>
            <a:off x="6108192" y="1463040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 export + calc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7498080" y="1463040"/>
            <a:ext cx="91440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2"/>
          <p:cNvSpPr/>
          <p:nvPr/>
        </p:nvSpPr>
        <p:spPr>
          <a:xfrm>
            <a:off x="7571232" y="1463040"/>
            <a:ext cx="768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finding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731520" y="1993392"/>
            <a:ext cx="1828800" cy="5029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7" name="Text 24"/>
          <p:cNvSpPr/>
          <p:nvPr/>
        </p:nvSpPr>
        <p:spPr>
          <a:xfrm>
            <a:off x="804672" y="1993392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  Patch Adhesion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2560320" y="1993392"/>
            <a:ext cx="1920240" cy="5029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9" name="Text 26"/>
          <p:cNvSpPr/>
          <p:nvPr/>
        </p:nvSpPr>
        <p:spPr>
          <a:xfrm>
            <a:off x="2633472" y="1993392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cycle closure status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480560" y="1993392"/>
            <a:ext cx="1554480" cy="5029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1" name="Text 28"/>
          <p:cNvSpPr/>
          <p:nvPr/>
        </p:nvSpPr>
        <p:spPr>
          <a:xfrm>
            <a:off x="4553712" y="1993392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PMO/CERPA admin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6035040" y="1993392"/>
            <a:ext cx="1463040" cy="5029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3" name="Text 30"/>
          <p:cNvSpPr/>
          <p:nvPr/>
        </p:nvSpPr>
        <p:spPr>
          <a:xfrm>
            <a:off x="6108192" y="1993392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 reopen audit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7498080" y="1993392"/>
            <a:ext cx="914400" cy="5029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5" name="Text 32"/>
          <p:cNvSpPr/>
          <p:nvPr/>
        </p:nvSpPr>
        <p:spPr>
          <a:xfrm>
            <a:off x="7571232" y="1993392"/>
            <a:ext cx="768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window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731520" y="2523744"/>
            <a:ext cx="182880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7" name="Text 34"/>
          <p:cNvSpPr/>
          <p:nvPr/>
        </p:nvSpPr>
        <p:spPr>
          <a:xfrm>
            <a:off x="804672" y="2523744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  Deficiency Echo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2560320" y="2523744"/>
            <a:ext cx="192024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9" name="Text 36"/>
          <p:cNvSpPr/>
          <p:nvPr/>
        </p:nvSpPr>
        <p:spPr>
          <a:xfrm>
            <a:off x="2633472" y="2523744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Cross-cycle deficiency log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4480560" y="2523744"/>
            <a:ext cx="155448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8"/>
          <p:cNvSpPr/>
          <p:nvPr/>
        </p:nvSpPr>
        <p:spPr>
          <a:xfrm>
            <a:off x="4553712" y="2523744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Lead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6035040" y="2523744"/>
            <a:ext cx="146304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3" name="Text 40"/>
          <p:cNvSpPr/>
          <p:nvPr/>
        </p:nvSpPr>
        <p:spPr>
          <a:xfrm>
            <a:off x="6108192" y="2523744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match across cycles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7498080" y="2523744"/>
            <a:ext cx="91440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5" name="Text 42"/>
          <p:cNvSpPr/>
          <p:nvPr/>
        </p:nvSpPr>
        <p:spPr>
          <a:xfrm>
            <a:off x="7571232" y="2523744"/>
            <a:ext cx="768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731520" y="3054096"/>
            <a:ext cx="1828800" cy="5029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7" name="Text 44"/>
          <p:cNvSpPr/>
          <p:nvPr/>
        </p:nvSpPr>
        <p:spPr>
          <a:xfrm>
            <a:off x="804672" y="3054096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DEG  Decision-Evidence Gap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2560320" y="3054096"/>
            <a:ext cx="1920240" cy="5029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9" name="Text 46"/>
          <p:cNvSpPr/>
          <p:nvPr/>
        </p:nvSpPr>
        <p:spPr>
          <a:xfrm>
            <a:off x="2633472" y="3054096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date vs evidence date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4480560" y="3054096"/>
            <a:ext cx="1554480" cy="5029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51" name="Text 48"/>
          <p:cNvSpPr/>
          <p:nvPr/>
        </p:nvSpPr>
        <p:spPr>
          <a:xfrm>
            <a:off x="4553712" y="3054096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PMO/CERPA admin</a:t>
            </a:r>
            <a:endParaRPr lang="en-US" sz="800" dirty="0"/>
          </a:p>
        </p:txBody>
      </p:sp>
      <p:sp>
        <p:nvSpPr>
          <p:cNvPr id="52" name="Shape 49"/>
          <p:cNvSpPr/>
          <p:nvPr/>
        </p:nvSpPr>
        <p:spPr>
          <a:xfrm>
            <a:off x="6035040" y="3054096"/>
            <a:ext cx="1463040" cy="5029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53" name="Text 50"/>
          <p:cNvSpPr/>
          <p:nvPr/>
        </p:nvSpPr>
        <p:spPr>
          <a:xfrm>
            <a:off x="6108192" y="3054096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delta calculation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7498080" y="3054096"/>
            <a:ext cx="914400" cy="5029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55" name="Text 52"/>
          <p:cNvSpPr/>
          <p:nvPr/>
        </p:nvSpPr>
        <p:spPr>
          <a:xfrm>
            <a:off x="7571232" y="3054096"/>
            <a:ext cx="768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finding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731520" y="3584448"/>
            <a:ext cx="182880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7" name="Text 54"/>
          <p:cNvSpPr/>
          <p:nvPr/>
        </p:nvSpPr>
        <p:spPr>
          <a:xfrm>
            <a:off x="804672" y="3584448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BRQ  Board Readiness</a:t>
            </a:r>
            <a:endParaRPr lang="en-US" sz="800" dirty="0"/>
          </a:p>
        </p:txBody>
      </p:sp>
      <p:sp>
        <p:nvSpPr>
          <p:cNvPr id="58" name="Shape 55"/>
          <p:cNvSpPr/>
          <p:nvPr/>
        </p:nvSpPr>
        <p:spPr>
          <a:xfrm>
            <a:off x="2560320" y="3584448"/>
            <a:ext cx="192024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9" name="Text 56"/>
          <p:cNvSpPr/>
          <p:nvPr/>
        </p:nvSpPr>
        <p:spPr>
          <a:xfrm>
            <a:off x="2633472" y="3584448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Pre-board finding status fields</a:t>
            </a:r>
            <a:endParaRPr lang="en-US" sz="800" dirty="0"/>
          </a:p>
        </p:txBody>
      </p:sp>
      <p:sp>
        <p:nvSpPr>
          <p:cNvPr id="60" name="Shape 57"/>
          <p:cNvSpPr/>
          <p:nvPr/>
        </p:nvSpPr>
        <p:spPr>
          <a:xfrm>
            <a:off x="4480560" y="3584448"/>
            <a:ext cx="155448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1" name="Text 58"/>
          <p:cNvSpPr/>
          <p:nvPr/>
        </p:nvSpPr>
        <p:spPr>
          <a:xfrm>
            <a:off x="4553712" y="3584448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secretary</a:t>
            </a:r>
            <a:endParaRPr lang="en-US" sz="800" dirty="0"/>
          </a:p>
        </p:txBody>
      </p:sp>
      <p:sp>
        <p:nvSpPr>
          <p:cNvPr id="62" name="Shape 59"/>
          <p:cNvSpPr/>
          <p:nvPr/>
        </p:nvSpPr>
        <p:spPr>
          <a:xfrm>
            <a:off x="6035040" y="3584448"/>
            <a:ext cx="146304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3" name="Text 60"/>
          <p:cNvSpPr/>
          <p:nvPr/>
        </p:nvSpPr>
        <p:spPr>
          <a:xfrm>
            <a:off x="6108192" y="3584448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5-field completeness check</a:t>
            </a:r>
            <a:endParaRPr lang="en-US" sz="800" dirty="0"/>
          </a:p>
        </p:txBody>
      </p:sp>
      <p:sp>
        <p:nvSpPr>
          <p:cNvPr id="64" name="Shape 61"/>
          <p:cNvSpPr/>
          <p:nvPr/>
        </p:nvSpPr>
        <p:spPr>
          <a:xfrm>
            <a:off x="7498080" y="3584448"/>
            <a:ext cx="91440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5" name="Text 62"/>
          <p:cNvSpPr/>
          <p:nvPr/>
        </p:nvSpPr>
        <p:spPr>
          <a:xfrm>
            <a:off x="7571232" y="3584448"/>
            <a:ext cx="768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Pre-board</a:t>
            </a:r>
            <a:endParaRPr lang="en-US" sz="800" dirty="0"/>
          </a:p>
        </p:txBody>
      </p:sp>
      <p:sp>
        <p:nvSpPr>
          <p:cNvPr id="66" name="Shape 63"/>
          <p:cNvSpPr/>
          <p:nvPr/>
        </p:nvSpPr>
        <p:spPr>
          <a:xfrm>
            <a:off x="731520" y="4114800"/>
            <a:ext cx="1828800" cy="5029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7" name="Text 64"/>
          <p:cNvSpPr/>
          <p:nvPr/>
        </p:nvSpPr>
        <p:spPr>
          <a:xfrm>
            <a:off x="804672" y="411480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CIS  Closure Integrity</a:t>
            </a:r>
            <a:endParaRPr lang="en-US" sz="800" dirty="0"/>
          </a:p>
        </p:txBody>
      </p:sp>
      <p:sp>
        <p:nvSpPr>
          <p:cNvPr id="68" name="Shape 65"/>
          <p:cNvSpPr/>
          <p:nvPr/>
        </p:nvSpPr>
        <p:spPr>
          <a:xfrm>
            <a:off x="2560320" y="4114800"/>
            <a:ext cx="1920240" cy="5029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9" name="Text 66"/>
          <p:cNvSpPr/>
          <p:nvPr/>
        </p:nvSpPr>
        <p:spPr>
          <a:xfrm>
            <a:off x="2633472" y="411480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blend of above</a:t>
            </a:r>
            <a:endParaRPr lang="en-US" sz="800" dirty="0"/>
          </a:p>
        </p:txBody>
      </p:sp>
      <p:sp>
        <p:nvSpPr>
          <p:cNvPr id="70" name="Shape 67"/>
          <p:cNvSpPr/>
          <p:nvPr/>
        </p:nvSpPr>
        <p:spPr>
          <a:xfrm>
            <a:off x="4480560" y="4114800"/>
            <a:ext cx="1554480" cy="5029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71" name="Text 68"/>
          <p:cNvSpPr/>
          <p:nvPr/>
        </p:nvSpPr>
        <p:spPr>
          <a:xfrm>
            <a:off x="4553712" y="4114800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CERPA system</a:t>
            </a:r>
            <a:endParaRPr lang="en-US" sz="800" dirty="0"/>
          </a:p>
        </p:txBody>
      </p:sp>
      <p:sp>
        <p:nvSpPr>
          <p:cNvPr id="72" name="Shape 69"/>
          <p:cNvSpPr/>
          <p:nvPr/>
        </p:nvSpPr>
        <p:spPr>
          <a:xfrm>
            <a:off x="6035040" y="4114800"/>
            <a:ext cx="1463040" cy="5029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73" name="Text 70"/>
          <p:cNvSpPr/>
          <p:nvPr/>
        </p:nvSpPr>
        <p:spPr>
          <a:xfrm>
            <a:off x="6108192" y="4114800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composite</a:t>
            </a:r>
            <a:endParaRPr lang="en-US" sz="800" dirty="0"/>
          </a:p>
        </p:txBody>
      </p:sp>
      <p:sp>
        <p:nvSpPr>
          <p:cNvPr id="74" name="Shape 71"/>
          <p:cNvSpPr/>
          <p:nvPr/>
        </p:nvSpPr>
        <p:spPr>
          <a:xfrm>
            <a:off x="7498080" y="4114800"/>
            <a:ext cx="914400" cy="5029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75" name="Text 72"/>
          <p:cNvSpPr/>
          <p:nvPr/>
        </p:nvSpPr>
        <p:spPr>
          <a:xfrm>
            <a:off x="7571232" y="4114800"/>
            <a:ext cx="768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463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CERPA does not just reduce admin time.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increases the credibility of command closure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lowering the cost of proving it.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0" y="3017520"/>
            <a:ext cx="27432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918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findings management to measurable closure economics.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40233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CLAIM  |  EVENT  |  REVIEW  |  PATCH  |  APPLY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44348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Sigma CERPA  |  OPMG  |  Army Protection Program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OPMG Deploys CERPA for APP Assessment</dc:title>
  <dc:subject>PptxGenJS Presentation</dc:subject>
  <dc:creator>Deep Sigma</dc:creator>
  <cp:lastModifiedBy>Deep Sigma</cp:lastModifiedBy>
  <cp:revision>1</cp:revision>
  <dcterms:created xsi:type="dcterms:W3CDTF">2026-03-14T02:24:16Z</dcterms:created>
  <dcterms:modified xsi:type="dcterms:W3CDTF">2026-03-14T02:24:16Z</dcterms:modified>
</cp:coreProperties>
</file>